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08"/>
    <p:restoredTop sz="94637"/>
  </p:normalViewPr>
  <p:slideViewPr>
    <p:cSldViewPr snapToGrid="0">
      <p:cViewPr>
        <p:scale>
          <a:sx n="145" d="100"/>
          <a:sy n="145" d="100"/>
        </p:scale>
        <p:origin x="13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838F9-4281-AF36-6F68-393D9CC39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80C87-5845-4ACF-B4B8-A5DC96912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82C34-EFDB-1727-F03D-3AAFB724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62661-15C9-447E-6573-8042711B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E8B0E-D299-B1E2-104E-91F6ADAC3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3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A3D7-9627-E78B-5055-CC97F4DA0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19992-4A87-7151-82B9-FE03ADFE9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700E3-3A22-748E-34A9-79E53FE5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E605E-0A35-1531-0153-DBF53B69F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596D9-5869-E04D-7254-B3E3FCF30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75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7FAAA-338E-2152-66A2-2EB123F1D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8F536-C512-6D61-95CD-1D257F246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A4282-CDBD-E901-A8CF-BD2670577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E5279-E08A-1D7F-9BF8-A8FD32B61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5E8D9-9DD3-903F-B453-976044B9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4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E5F14-9A14-7BE6-5647-197C79820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88249-D95C-F185-759B-3AFC75EA89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0BE47-DDEE-293F-65C8-2959D8755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DF607-D7DA-1272-A423-7D179236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EC382-9AAB-CE69-319F-D364A7354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C0466-F5C1-C3A1-4BF0-E45715E95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94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4974C-AA4E-E23C-F09D-93D46C1BB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C83C8-4721-DA68-8B20-4D5AF728C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89F01-3153-4900-5EED-3DF50778A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4158EA-EB28-64EF-D3DC-867059A68D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1374EB-ED38-742E-25C2-62A200BFE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473B3C-6F6D-E90B-400E-F14212A83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85B9E4-BE68-154C-34F2-79B76487A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18A593-F69E-F676-6E81-0FB90AFE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60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D4967-4D27-72D9-936E-7813F9F50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908AF1-2937-6B0B-A921-CDFFEE65C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372ED6-EC08-24FC-3668-EAF2BF6DC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0BCA4-8AAF-098F-19BF-991D20C2C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91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A51D33-B081-C10A-A920-C446BE3B9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B6CFE4-21AE-AA6D-573E-E8D98412F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EF38D-30E8-C3B8-F4D1-DBD85219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31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CC62-9E13-474C-6185-4AD671D11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B7586-CB8D-42E1-8FB9-0A82F7696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11735-D0A1-8986-16ED-F112AFE34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D89C5-2F28-C150-D984-00436329A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55440-322E-8FCE-6331-3EF10FBD7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14234-6857-CA3F-7B00-D211F4B0E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83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9508-467C-2118-C354-A43135E47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11576-982F-A95E-6422-9B2C024017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B9098-5161-0F46-BEAA-971DBEBB7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27443-9183-CF0C-E895-9D36A3814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DF2C0-3875-8888-D7D2-790BC25CA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4230-DA33-02BF-E90A-24BB3145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67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20B29-03CE-3EBB-9166-834E31608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14CC85-694C-E172-8B79-731864681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C496B-9709-1CCD-F090-6FE82C5DE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F5E3E-2939-CB61-B5E0-48CBF47CA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5E589-4EE0-5336-4F63-F70663097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804E22-4950-726B-4B2C-917B955EF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EF0BE5-A466-C545-79F6-5CD751A5A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D182D-6194-6C79-AACB-F98CE4F81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DC023-D5BD-549A-A9F1-A65CBD037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8904A-9D95-52D0-9536-99FBF1BF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63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C883D9-2ECF-3CE4-A901-CEAC48410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372EA-C638-E0AD-A0FA-35DB45B35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7BDA3-6725-85D2-1E70-FF192DFD6A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D45D7-259E-5A46-88E2-0DEC11727B8E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6CEEF-03B0-D1B2-7C61-EC4F0E64F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77307-16BF-5D4D-E78D-DC1E145EE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2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FB4A2-7123-524F-8312-32356E61A7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Optical RL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155A9F-DDAF-0B5B-7219-0F6AB707FD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Pavel E. Dolgirev</a:t>
            </a:r>
          </a:p>
        </p:txBody>
      </p:sp>
    </p:spTree>
    <p:extLst>
      <p:ext uri="{BB962C8B-B14F-4D97-AF65-F5344CB8AC3E}">
        <p14:creationId xmlns:p14="http://schemas.microsoft.com/office/powerpoint/2010/main" val="4002549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059C1-B929-FC98-355F-7F3324C70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CartPole</a:t>
            </a:r>
            <a:r>
              <a:rPr lang="en-US" dirty="0"/>
              <a:t> with REINFORCE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A90A499-F9B0-1358-7DC1-CFE5690D8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994" y="2066648"/>
            <a:ext cx="6540500" cy="279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34A9EA5-F6D4-C98F-D727-32557162200B}"/>
              </a:ext>
            </a:extLst>
          </p:cNvPr>
          <p:cNvCxnSpPr>
            <a:cxnSpLocks/>
          </p:cNvCxnSpPr>
          <p:nvPr/>
        </p:nvCxnSpPr>
        <p:spPr>
          <a:xfrm flipH="1">
            <a:off x="7593494" y="2206348"/>
            <a:ext cx="7271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23AADCB-CC08-6F0A-BA8A-F0B2D8EAB8C5}"/>
              </a:ext>
            </a:extLst>
          </p:cNvPr>
          <p:cNvSpPr txBox="1"/>
          <p:nvPr/>
        </p:nvSpPr>
        <p:spPr>
          <a:xfrm>
            <a:off x="8535400" y="2018393"/>
            <a:ext cx="28184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This is our baseline to beat</a:t>
            </a:r>
          </a:p>
          <a:p>
            <a:pPr algn="ctr"/>
            <a:r>
              <a:rPr lang="en-US" dirty="0" err="1"/>
              <a:t>Max_num_steps</a:t>
            </a:r>
            <a:r>
              <a:rPr lang="en-US" dirty="0"/>
              <a:t> = 500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F18562-97E8-181F-E90F-28D24D8400AB}"/>
                  </a:ext>
                </a:extLst>
              </p:cNvPr>
              <p:cNvSpPr txBox="1"/>
              <p:nvPr/>
            </p:nvSpPr>
            <p:spPr>
              <a:xfrm>
                <a:off x="1933940" y="3727530"/>
                <a:ext cx="9217279" cy="2207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REINFORCE – learn 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represented as a neural net.</a:t>
                </a:r>
              </a:p>
              <a:p>
                <a:r>
                  <a:rPr lang="en-US" dirty="0"/>
                  <a:t>The algorithm – gradient ascend to maximize return: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Key result in the theory of policy optimization: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F18562-97E8-181F-E90F-28D24D840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940" y="3727530"/>
                <a:ext cx="9217279" cy="2207784"/>
              </a:xfrm>
              <a:prstGeom prst="rect">
                <a:avLst/>
              </a:prstGeom>
              <a:blipFill>
                <a:blip r:embed="rId3"/>
                <a:stretch>
                  <a:fillRect l="-551" t="-1143" b="-46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8839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39BB0-D309-B8D5-46CC-18A69D93D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CartPole</a:t>
            </a:r>
            <a:r>
              <a:rPr lang="en-US" dirty="0"/>
              <a:t> with REINFORCE, </a:t>
            </a:r>
            <a:r>
              <a:rPr lang="en-US" dirty="0" err="1"/>
              <a:t>lr</a:t>
            </a:r>
            <a:r>
              <a:rPr lang="en-US" dirty="0"/>
              <a:t>=1e-2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B85011-0B8B-3153-0751-0A6DE43170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0575" y="1689479"/>
            <a:ext cx="6175795" cy="48033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BD2348-FF3B-DBE0-A208-3F4C7DFA9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575" y="6492875"/>
            <a:ext cx="6464300" cy="292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4F10AD-4301-43FF-18EF-08F7066DE58C}"/>
              </a:ext>
            </a:extLst>
          </p:cNvPr>
          <p:cNvSpPr txBox="1"/>
          <p:nvPr/>
        </p:nvSpPr>
        <p:spPr>
          <a:xfrm>
            <a:off x="9148046" y="2346324"/>
            <a:ext cx="312294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Typical result with REINFORCE, no baseline</a:t>
            </a:r>
          </a:p>
          <a:p>
            <a:pPr algn="ctr"/>
            <a:r>
              <a:rPr lang="en-US" dirty="0"/>
              <a:t> </a:t>
            </a:r>
          </a:p>
          <a:p>
            <a:pPr algn="ctr"/>
            <a:r>
              <a:rPr lang="en-US" dirty="0"/>
              <a:t>Trained policy, a NN, one hidden layer, 128 neurons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Learning rate is such that when we have a good policy, it results in a large return, which implies large gradient. Large gradient then moves away from a good policy. Instability of convergence.</a:t>
            </a:r>
          </a:p>
        </p:txBody>
      </p:sp>
    </p:spTree>
    <p:extLst>
      <p:ext uri="{BB962C8B-B14F-4D97-AF65-F5344CB8AC3E}">
        <p14:creationId xmlns:p14="http://schemas.microsoft.com/office/powerpoint/2010/main" val="2903268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4E08F-C8CA-855A-5FD9-322B3BBF0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CartPole</a:t>
            </a:r>
            <a:r>
              <a:rPr lang="en-US" dirty="0"/>
              <a:t> with REINFORCE, </a:t>
            </a:r>
            <a:r>
              <a:rPr lang="en-US" dirty="0" err="1"/>
              <a:t>lr</a:t>
            </a:r>
            <a:r>
              <a:rPr lang="en-US" dirty="0"/>
              <a:t>=1e-3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DA75FD5-92AD-B529-72AE-9018608943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8711" y="1834417"/>
            <a:ext cx="5594577" cy="4351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F87C14-5A19-E3A6-DC87-596A915CEC22}"/>
              </a:ext>
            </a:extLst>
          </p:cNvPr>
          <p:cNvSpPr txBox="1"/>
          <p:nvPr/>
        </p:nvSpPr>
        <p:spPr>
          <a:xfrm>
            <a:off x="9069059" y="2848129"/>
            <a:ext cx="31229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Typical result with REINFORCE, no baseline</a:t>
            </a:r>
          </a:p>
          <a:p>
            <a:pPr algn="ctr"/>
            <a:r>
              <a:rPr lang="en-US" dirty="0"/>
              <a:t> </a:t>
            </a:r>
          </a:p>
          <a:p>
            <a:pPr algn="ctr"/>
            <a:r>
              <a:rPr lang="en-US" dirty="0"/>
              <a:t>Trained policy, a NN, one hidden layer, 128 neurons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Small LR helped a lot but we still sometimes get instability and lose a good policy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5B25D6-80A5-2B74-C481-1CF20A6C1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711" y="6329484"/>
            <a:ext cx="67310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7DD0E-3B0F-FFAD-6191-CD0F5DB0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Six steps toward PPO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33556E-D81A-4777-5FD2-E3BA4F889152}"/>
              </a:ext>
            </a:extLst>
          </p:cNvPr>
          <p:cNvSpPr txBox="1"/>
          <p:nvPr/>
        </p:nvSpPr>
        <p:spPr>
          <a:xfrm>
            <a:off x="838200" y="1690688"/>
            <a:ext cx="5735609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Batch episodes – simplest baseline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Value baseline (VPG) – actor-critic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Fixed-horizon rollout and bootstrapping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GAE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Break it on purpose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PPO </a:t>
            </a:r>
          </a:p>
        </p:txBody>
      </p:sp>
    </p:spTree>
    <p:extLst>
      <p:ext uri="{BB962C8B-B14F-4D97-AF65-F5344CB8AC3E}">
        <p14:creationId xmlns:p14="http://schemas.microsoft.com/office/powerpoint/2010/main" val="883382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48AF4-D05F-4CF5-90DF-276D397D1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batch-normalized returns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B3C06E-739D-41EF-B0A6-9A7732E76B55}"/>
                  </a:ext>
                </a:extLst>
              </p:cNvPr>
              <p:cNvSpPr txBox="1"/>
              <p:nvPr/>
            </p:nvSpPr>
            <p:spPr>
              <a:xfrm>
                <a:off x="838200" y="2263456"/>
                <a:ext cx="9217279" cy="2331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 the REINFORCE, do this simple substitution: 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mean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std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()+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1. The mean subtraction over a batch of episodes – this is to reduce the variance in REINFORCE, we have simplest possible state-independent baseline.</a:t>
                </a:r>
              </a:p>
              <a:p>
                <a:endParaRPr lang="en-US" b="0" dirty="0"/>
              </a:p>
              <a:p>
                <a:r>
                  <a:rPr lang="en-US" dirty="0"/>
                  <a:t>2. The division by std ensures the gradient does not blow up.</a:t>
                </a: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B3C06E-739D-41EF-B0A6-9A7732E76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63456"/>
                <a:ext cx="9217279" cy="2331087"/>
              </a:xfrm>
              <a:prstGeom prst="rect">
                <a:avLst/>
              </a:prstGeom>
              <a:blipFill>
                <a:blip r:embed="rId2"/>
                <a:stretch>
                  <a:fillRect l="-689" t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6359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7463-6CD6-C50D-A26E-9FA31F223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Seed-to-seed variation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0F2B53-F15B-DF0F-667B-B11874BA9A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300" y="1690689"/>
            <a:ext cx="3640635" cy="28316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08BD18-0B7C-4CD7-23E9-318FC686D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881" y="1690688"/>
            <a:ext cx="3640636" cy="28316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D9DD2E-B223-4036-B424-AE090018B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064" y="1690688"/>
            <a:ext cx="3640636" cy="28316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A8C060-01D6-F21B-8724-68CC815E1395}"/>
              </a:ext>
            </a:extLst>
          </p:cNvPr>
          <p:cNvSpPr txBox="1"/>
          <p:nvPr/>
        </p:nvSpPr>
        <p:spPr>
          <a:xfrm>
            <a:off x="645042" y="479797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Here </a:t>
            </a:r>
            <a:r>
              <a:rPr lang="en-US" sz="1800" dirty="0" err="1"/>
              <a:t>N_batch</a:t>
            </a:r>
            <a:r>
              <a:rPr lang="en-US" sz="1800" dirty="0"/>
              <a:t> = 1, </a:t>
            </a:r>
            <a:r>
              <a:rPr lang="en-US" sz="1800" dirty="0" err="1"/>
              <a:t>lr</a:t>
            </a:r>
            <a:r>
              <a:rPr lang="en-US" sz="1800" dirty="0"/>
              <a:t> = 1e-2</a:t>
            </a:r>
          </a:p>
          <a:p>
            <a:endParaRPr lang="en-US" dirty="0"/>
          </a:p>
          <a:p>
            <a:r>
              <a:rPr lang="en-US" sz="1800" dirty="0"/>
              <a:t>Note strong seed dependence</a:t>
            </a:r>
          </a:p>
          <a:p>
            <a:r>
              <a:rPr lang="en-US" dirty="0"/>
              <a:t>Note fluctuations</a:t>
            </a:r>
          </a:p>
          <a:p>
            <a:r>
              <a:rPr lang="en-US" sz="1800" dirty="0"/>
              <a:t>Note instability of the trajectories</a:t>
            </a:r>
          </a:p>
        </p:txBody>
      </p:sp>
    </p:spTree>
    <p:extLst>
      <p:ext uri="{BB962C8B-B14F-4D97-AF65-F5344CB8AC3E}">
        <p14:creationId xmlns:p14="http://schemas.microsoft.com/office/powerpoint/2010/main" val="3513312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7B97C-17C1-8AF5-9CBB-46122285B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Subtract mean baseline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510EFB-10D5-C3F2-341C-2AA44EB4F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425" y="1806996"/>
            <a:ext cx="3663539" cy="2849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D1E2C0-9B93-2E9E-4D8E-ED65A351F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992" y="1806996"/>
            <a:ext cx="3663540" cy="2849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E3EEC6-1EC1-8ABB-2EA5-FA137EF66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560" y="1806996"/>
            <a:ext cx="3663540" cy="28494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D03AFE-8D9D-49A7-DCED-9C600E2907AD}"/>
              </a:ext>
            </a:extLst>
          </p:cNvPr>
          <p:cNvSpPr txBox="1"/>
          <p:nvPr/>
        </p:nvSpPr>
        <p:spPr>
          <a:xfrm>
            <a:off x="645042" y="479797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Here </a:t>
            </a:r>
            <a:r>
              <a:rPr lang="en-US" sz="1800" dirty="0" err="1"/>
              <a:t>N_batch</a:t>
            </a:r>
            <a:r>
              <a:rPr lang="en-US" sz="1800" dirty="0"/>
              <a:t> = 10, </a:t>
            </a:r>
            <a:r>
              <a:rPr lang="en-US" sz="1800" dirty="0" err="1"/>
              <a:t>lr</a:t>
            </a:r>
            <a:r>
              <a:rPr lang="en-US" sz="1800" dirty="0"/>
              <a:t> = 1e-2</a:t>
            </a:r>
          </a:p>
          <a:p>
            <a:endParaRPr lang="en-US" dirty="0"/>
          </a:p>
          <a:p>
            <a:r>
              <a:rPr lang="en-US" sz="1800" dirty="0"/>
              <a:t>Note significantly reduced noise</a:t>
            </a:r>
          </a:p>
          <a:p>
            <a:r>
              <a:rPr lang="en-US" dirty="0"/>
              <a:t>Node reduced seed dependence</a:t>
            </a:r>
          </a:p>
          <a:p>
            <a:r>
              <a:rPr lang="en-US" sz="1800" dirty="0"/>
              <a:t>Note reduced gradients</a:t>
            </a:r>
          </a:p>
        </p:txBody>
      </p:sp>
    </p:spTree>
    <p:extLst>
      <p:ext uri="{BB962C8B-B14F-4D97-AF65-F5344CB8AC3E}">
        <p14:creationId xmlns:p14="http://schemas.microsoft.com/office/powerpoint/2010/main" val="3241807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D4AB0-5EA2-8BCF-B585-58F368610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Subtract and normalize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489AB4-D997-40EE-42D6-4CA32E9EE5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430" y="1998512"/>
            <a:ext cx="3926169" cy="3053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C79578-A589-D352-FF9B-E09BA7383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915" y="1998512"/>
            <a:ext cx="3926169" cy="30536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DAD0CE-6A7B-C355-734E-D90E8FB0B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400" y="1998512"/>
            <a:ext cx="3926169" cy="30536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19823F-A4ED-21B8-1001-570EC0249F3E}"/>
              </a:ext>
            </a:extLst>
          </p:cNvPr>
          <p:cNvSpPr txBox="1"/>
          <p:nvPr/>
        </p:nvSpPr>
        <p:spPr>
          <a:xfrm>
            <a:off x="372480" y="524638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Here </a:t>
            </a:r>
            <a:r>
              <a:rPr lang="en-US" sz="1800" dirty="0" err="1"/>
              <a:t>N_batch</a:t>
            </a:r>
            <a:r>
              <a:rPr lang="en-US" sz="1800" dirty="0"/>
              <a:t> = 10, </a:t>
            </a:r>
            <a:r>
              <a:rPr lang="en-US" sz="1800" dirty="0" err="1"/>
              <a:t>lr</a:t>
            </a:r>
            <a:r>
              <a:rPr lang="en-US" sz="1800" dirty="0"/>
              <a:t> = 1e-2</a:t>
            </a:r>
          </a:p>
          <a:p>
            <a:endParaRPr lang="en-US" dirty="0"/>
          </a:p>
          <a:p>
            <a:r>
              <a:rPr lang="en-US" sz="1800" dirty="0"/>
              <a:t>Note further reduction and stability of gradients</a:t>
            </a:r>
          </a:p>
        </p:txBody>
      </p:sp>
    </p:spTree>
    <p:extLst>
      <p:ext uri="{BB962C8B-B14F-4D97-AF65-F5344CB8AC3E}">
        <p14:creationId xmlns:p14="http://schemas.microsoft.com/office/powerpoint/2010/main" val="2982847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330</Words>
  <Application>Microsoft Macintosh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Optical RL</vt:lpstr>
      <vt:lpstr>CartPole with REINFORCE</vt:lpstr>
      <vt:lpstr>CartPole with REINFORCE, lr=1e-2</vt:lpstr>
      <vt:lpstr>CartPole with REINFORCE, lr=1e-3</vt:lpstr>
      <vt:lpstr>Six steps toward PPO</vt:lpstr>
      <vt:lpstr>Step 1: batch-normalized returns</vt:lpstr>
      <vt:lpstr>Seed-to-seed variation</vt:lpstr>
      <vt:lpstr>Subtract mean baseline</vt:lpstr>
      <vt:lpstr>Subtract and normalize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Dolgirev, Pavel</dc:creator>
  <cp:lastModifiedBy>Dolgirev, Pavel</cp:lastModifiedBy>
  <cp:revision>41</cp:revision>
  <dcterms:created xsi:type="dcterms:W3CDTF">2026-08-27T00:14:55Z</dcterms:created>
  <dcterms:modified xsi:type="dcterms:W3CDTF">2026-08-27T20:58:15Z</dcterms:modified>
</cp:coreProperties>
</file>