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50"/>
    <p:restoredTop sz="94651"/>
  </p:normalViewPr>
  <p:slideViewPr>
    <p:cSldViewPr snapToGrid="0">
      <p:cViewPr varScale="1">
        <p:scale>
          <a:sx n="209" d="100"/>
          <a:sy n="209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838F9-4281-AF36-6F68-393D9CC39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B80C87-5845-4ACF-B4B8-A5DC96912A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B82C34-EFDB-1727-F03D-3AAFB724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62661-15C9-447E-6573-8042711B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E8B0E-D299-B1E2-104E-91F6ADAC3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23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A3D7-9627-E78B-5055-CC97F4DA0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19992-4A87-7151-82B9-FE03ADFE9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700E3-3A22-748E-34A9-79E53FE54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E605E-0A35-1531-0153-DBF53B69F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596D9-5869-E04D-7254-B3E3FCF30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75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7FAAA-338E-2152-66A2-2EB123F1D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8F536-C512-6D61-95CD-1D257F246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A4282-CDBD-E901-A8CF-BD267057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E5279-E08A-1D7F-9BF8-A8FD32B6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5E8D9-9DD3-903F-B453-976044B9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E5F14-9A14-7BE6-5647-197C79820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88249-D95C-F185-759B-3AFC75EA89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70BE47-DDEE-293F-65C8-2959D8755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6DF607-D7DA-1272-A423-7D1792362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EC382-9AAB-CE69-319F-D364A7354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C0466-F5C1-C3A1-4BF0-E45715E95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794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4974C-AA4E-E23C-F09D-93D46C1BB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C83C8-4721-DA68-8B20-4D5AF728C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489F01-3153-4900-5EED-3DF50778A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158EA-EB28-64EF-D3DC-867059A68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1374EB-ED38-742E-25C2-62A200BFE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473B3C-6F6D-E90B-400E-F14212A83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5B9E4-BE68-154C-34F2-79B76487A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18A593-F69E-F676-6E81-0FB90AFE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60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4967-4D27-72D9-936E-7813F9F5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908AF1-2937-6B0B-A921-CDFFEE65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372ED6-EC08-24FC-3668-EAF2BF6DC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C0BCA4-8AAF-098F-19BF-991D20C2C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91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51D33-B081-C10A-A920-C446BE3B9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B6CFE4-21AE-AA6D-573E-E8D98412F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EF38D-30E8-C3B8-F4D1-DBD852195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31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CC62-9E13-474C-6185-4AD671D11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B7586-CB8D-42E1-8FB9-0A82F7696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11735-D0A1-8986-16ED-F112AFE34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D89C5-2F28-C150-D984-00436329A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55440-322E-8FCE-6331-3EF10FBD7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14234-6857-CA3F-7B00-D211F4B0E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783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9508-467C-2118-C354-A43135E4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11576-982F-A95E-6422-9B2C02401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B9098-5161-0F46-BEAA-971DBEBB7C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27443-9183-CF0C-E895-9D36A3814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0DF2C0-3875-8888-D7D2-790BC25CA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4230-DA33-02BF-E90A-24BB3145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67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20B29-03CE-3EBB-9166-834E3160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4CC85-694C-E172-8B79-7318646815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C496B-9709-1CCD-F090-6FE82C5DE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F5E3E-2939-CB61-B5E0-48CBF47CA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5E589-4EE0-5336-4F63-F7066309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2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804E22-4950-726B-4B2C-917B955EF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EF0BE5-A466-C545-79F6-5CD751A5A8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D182D-6194-6C79-AACB-F98CE4F8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D45D7-259E-5A46-88E2-0DEC11727B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DC023-D5BD-549A-A9F1-A65CBD037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8904A-9D95-52D0-9536-99FBF1BF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363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C883D9-2ECF-3CE4-A901-CEAC48410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372EA-C638-E0AD-A0FA-35DB45B35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7BDA3-6725-85D2-1E70-FF192DFD6A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0D45D7-259E-5A46-88E2-0DEC11727B8E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6CEEF-03B0-D1B2-7C61-EC4F0E64F1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77307-16BF-5D4D-E78D-DC1E145EE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BFFEA-7435-574E-9D2F-692FC605B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FB4A2-7123-524F-8312-32356E61A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RL: REINFORCE and PPO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155A9F-DDAF-0B5B-7219-0F6AB707FD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Pavel E. Dolgirev</a:t>
            </a:r>
          </a:p>
        </p:txBody>
      </p:sp>
    </p:spTree>
    <p:extLst>
      <p:ext uri="{BB962C8B-B14F-4D97-AF65-F5344CB8AC3E}">
        <p14:creationId xmlns:p14="http://schemas.microsoft.com/office/powerpoint/2010/main" val="4002549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059C1-B929-FC98-355F-7F3324C70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CartPole</a:t>
            </a:r>
            <a:r>
              <a:rPr lang="en-US" dirty="0"/>
              <a:t> with REINFORCE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90A499-F9B0-1358-7DC1-CFE5690D86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2994" y="2066648"/>
            <a:ext cx="6540500" cy="2794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4A9EA5-F6D4-C98F-D727-32557162200B}"/>
              </a:ext>
            </a:extLst>
          </p:cNvPr>
          <p:cNvCxnSpPr>
            <a:cxnSpLocks/>
          </p:cNvCxnSpPr>
          <p:nvPr/>
        </p:nvCxnSpPr>
        <p:spPr>
          <a:xfrm flipH="1">
            <a:off x="7593494" y="2206348"/>
            <a:ext cx="72711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23AADCB-CC08-6F0A-BA8A-F0B2D8EAB8C5}"/>
              </a:ext>
            </a:extLst>
          </p:cNvPr>
          <p:cNvSpPr txBox="1"/>
          <p:nvPr/>
        </p:nvSpPr>
        <p:spPr>
          <a:xfrm>
            <a:off x="8535400" y="2018393"/>
            <a:ext cx="28184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This is our baseline to beat</a:t>
            </a:r>
          </a:p>
          <a:p>
            <a:pPr algn="ctr"/>
            <a:r>
              <a:rPr lang="en-US" dirty="0" err="1"/>
              <a:t>Max_num_steps</a:t>
            </a:r>
            <a:r>
              <a:rPr lang="en-US" dirty="0"/>
              <a:t> = 500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F18562-97E8-181F-E90F-28D24D8400AB}"/>
                  </a:ext>
                </a:extLst>
              </p:cNvPr>
              <p:cNvSpPr txBox="1"/>
              <p:nvPr/>
            </p:nvSpPr>
            <p:spPr>
              <a:xfrm>
                <a:off x="1880152" y="3040684"/>
                <a:ext cx="9217279" cy="24847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REINFORCE – learn optimal policy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– represented as a neural net.</a:t>
                </a:r>
              </a:p>
              <a:p>
                <a:r>
                  <a:rPr lang="en-US" dirty="0"/>
                  <a:t>The algorithm – gradient ascend to maximize the return: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endParaRPr lang="en-US" b="0" dirty="0"/>
              </a:p>
              <a:p>
                <a:r>
                  <a:rPr lang="en-US" dirty="0"/>
                  <a:t>Key result in the theory of policy optimization: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∇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BF18562-97E8-181F-E90F-28D24D840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0152" y="3040684"/>
                <a:ext cx="9217279" cy="2484783"/>
              </a:xfrm>
              <a:prstGeom prst="rect">
                <a:avLst/>
              </a:prstGeom>
              <a:blipFill>
                <a:blip r:embed="rId3"/>
                <a:stretch>
                  <a:fillRect l="-413" t="-1020" b="-418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640B20E-97A6-34BD-70FD-4C0E9BBB5FC1}"/>
              </a:ext>
            </a:extLst>
          </p:cNvPr>
          <p:cNvCxnSpPr/>
          <p:nvPr/>
        </p:nvCxnSpPr>
        <p:spPr>
          <a:xfrm flipV="1">
            <a:off x="6269317" y="5029420"/>
            <a:ext cx="0" cy="4960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34DB15-0815-4915-F451-4298665A07F3}"/>
                  </a:ext>
                </a:extLst>
              </p:cNvPr>
              <p:cNvSpPr txBox="1"/>
              <p:nvPr/>
            </p:nvSpPr>
            <p:spPr>
              <a:xfrm>
                <a:off x="4323244" y="5525467"/>
                <a:ext cx="405258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/>
                  <a:t>Return that follows: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+… 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34DB15-0815-4915-F451-4298665A0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244" y="5525467"/>
                <a:ext cx="4052584" cy="338554"/>
              </a:xfrm>
              <a:prstGeom prst="rect">
                <a:avLst/>
              </a:prstGeom>
              <a:blipFill>
                <a:blip r:embed="rId4"/>
                <a:stretch>
                  <a:fillRect l="-938"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883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39BB0-D309-B8D5-46CC-18A69D93D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CartPole</a:t>
            </a:r>
            <a:r>
              <a:rPr lang="en-US" dirty="0"/>
              <a:t> with REINFORCE, </a:t>
            </a:r>
            <a:r>
              <a:rPr lang="en-US" dirty="0" err="1"/>
              <a:t>lr</a:t>
            </a:r>
            <a:r>
              <a:rPr lang="en-US" dirty="0"/>
              <a:t>=1e-2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B85011-0B8B-3153-0751-0A6DE43170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4975" y="1689479"/>
            <a:ext cx="6175795" cy="4803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BD2348-FF3B-DBE0-A208-3F4C7DFA9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975" y="6492875"/>
            <a:ext cx="6464300" cy="2921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4F10AD-4301-43FF-18EF-08F7066DE58C}"/>
              </a:ext>
            </a:extLst>
          </p:cNvPr>
          <p:cNvSpPr txBox="1"/>
          <p:nvPr/>
        </p:nvSpPr>
        <p:spPr>
          <a:xfrm>
            <a:off x="8108140" y="1927971"/>
            <a:ext cx="312294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REINFORCE, no baseline</a:t>
            </a:r>
          </a:p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Trained policy = NN, one hidden layer, 128 neurons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Learning rate is such that when we get to have a good policy, it results in a large return, which also implies large gradient. 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Large gradient then moves away from a good policy. </a:t>
            </a:r>
            <a:r>
              <a:rPr lang="en-US" dirty="0">
                <a:solidFill>
                  <a:srgbClr val="C00000"/>
                </a:solidFill>
              </a:rPr>
              <a:t>Instability of convergence.</a:t>
            </a:r>
          </a:p>
        </p:txBody>
      </p:sp>
    </p:spTree>
    <p:extLst>
      <p:ext uri="{BB962C8B-B14F-4D97-AF65-F5344CB8AC3E}">
        <p14:creationId xmlns:p14="http://schemas.microsoft.com/office/powerpoint/2010/main" val="2903268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4E08F-C8CA-855A-5FD9-322B3BBF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CartPole</a:t>
            </a:r>
            <a:r>
              <a:rPr lang="en-US" dirty="0"/>
              <a:t> with REINFORCE, </a:t>
            </a:r>
            <a:r>
              <a:rPr lang="en-US" dirty="0" err="1"/>
              <a:t>lr</a:t>
            </a:r>
            <a:r>
              <a:rPr lang="en-US" dirty="0"/>
              <a:t>=1e-3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DA75FD5-92AD-B529-72AE-9018608943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8029" y="1768676"/>
            <a:ext cx="5594577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F87C14-5A19-E3A6-DC87-596A915CEC22}"/>
              </a:ext>
            </a:extLst>
          </p:cNvPr>
          <p:cNvSpPr txBox="1"/>
          <p:nvPr/>
        </p:nvSpPr>
        <p:spPr>
          <a:xfrm>
            <a:off x="8088918" y="2740552"/>
            <a:ext cx="312294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REINFORCE, no baseline, reduced LR</a:t>
            </a:r>
          </a:p>
          <a:p>
            <a:pPr algn="ctr"/>
            <a:r>
              <a:rPr lang="en-US" dirty="0"/>
              <a:t> </a:t>
            </a:r>
          </a:p>
          <a:p>
            <a:pPr algn="ctr"/>
            <a:r>
              <a:rPr lang="en-US" dirty="0"/>
              <a:t>Small LR helped a lot but we still sometimes get instability and lose a good policy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Also note strong fluctuations in training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5B25D6-80A5-2B74-C481-1CF20A6C1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029" y="6263743"/>
            <a:ext cx="67310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23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7DD0E-3B0F-FFAD-6191-CD0F5DB0D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steps toward PPO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33556E-D81A-4777-5FD2-E3BA4F889152}"/>
              </a:ext>
            </a:extLst>
          </p:cNvPr>
          <p:cNvSpPr txBox="1"/>
          <p:nvPr/>
        </p:nvSpPr>
        <p:spPr>
          <a:xfrm>
            <a:off x="838200" y="1690688"/>
            <a:ext cx="573560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Batch episodes – simplest baseline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Value baseline (VPG)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Fixed-horizon rollout and bootstrapping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GAE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PPO</a:t>
            </a:r>
          </a:p>
        </p:txBody>
      </p:sp>
    </p:spTree>
    <p:extLst>
      <p:ext uri="{BB962C8B-B14F-4D97-AF65-F5344CB8AC3E}">
        <p14:creationId xmlns:p14="http://schemas.microsoft.com/office/powerpoint/2010/main" val="883382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8AF4-D05F-4CF5-90DF-276D397D1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1: batch-normalized returns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B3C06E-739D-41EF-B0A6-9A7732E76B55}"/>
                  </a:ext>
                </a:extLst>
              </p:cNvPr>
              <p:cNvSpPr txBox="1"/>
              <p:nvPr/>
            </p:nvSpPr>
            <p:spPr>
              <a:xfrm>
                <a:off x="838200" y="2030374"/>
                <a:ext cx="9217279" cy="28850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 the REINFORCE, do this simple substitution: </a:t>
                </a:r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mean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std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()+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−8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1. The mean subtraction over a batch of episodes – this is to reduce the variance in REINFORCE, we have simplest possible state-independent baseline</a:t>
                </a:r>
              </a:p>
              <a:p>
                <a:endParaRPr lang="en-US" b="0" dirty="0"/>
              </a:p>
              <a:p>
                <a:r>
                  <a:rPr lang="en-US" dirty="0"/>
                  <a:t>2. The division by std ensures the gradient does not blow up</a:t>
                </a:r>
              </a:p>
              <a:p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8B3C06E-739D-41EF-B0A6-9A7732E76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30374"/>
                <a:ext cx="9217279" cy="2885085"/>
              </a:xfrm>
              <a:prstGeom prst="rect">
                <a:avLst/>
              </a:prstGeom>
              <a:blipFill>
                <a:blip r:embed="rId2"/>
                <a:stretch>
                  <a:fillRect l="-689" t="-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359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7463-6CD6-C50D-A26E-9FA31F22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Seed-to-seed variation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0F2B53-F15B-DF0F-667B-B11874BA9A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300" y="1690689"/>
            <a:ext cx="3640635" cy="28316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08BD18-0B7C-4CD7-23E9-318FC686D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881" y="1690688"/>
            <a:ext cx="3640636" cy="28316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D9DD2E-B223-4036-B424-AE090018B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064" y="1690688"/>
            <a:ext cx="3640636" cy="283160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A8C060-01D6-F21B-8724-68CC815E1395}"/>
              </a:ext>
            </a:extLst>
          </p:cNvPr>
          <p:cNvSpPr txBox="1"/>
          <p:nvPr/>
        </p:nvSpPr>
        <p:spPr>
          <a:xfrm>
            <a:off x="645042" y="479797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Here </a:t>
            </a:r>
            <a:r>
              <a:rPr lang="en-US" sz="1800" dirty="0" err="1"/>
              <a:t>N_batch</a:t>
            </a:r>
            <a:r>
              <a:rPr lang="en-US" sz="1800" dirty="0"/>
              <a:t> = 1, </a:t>
            </a:r>
            <a:r>
              <a:rPr lang="en-US" sz="1800" dirty="0" err="1"/>
              <a:t>lr</a:t>
            </a:r>
            <a:r>
              <a:rPr lang="en-US" sz="1800" dirty="0"/>
              <a:t> = 1e-2</a:t>
            </a:r>
          </a:p>
          <a:p>
            <a:endParaRPr lang="en-US" dirty="0"/>
          </a:p>
          <a:p>
            <a:r>
              <a:rPr lang="en-US" sz="1800" dirty="0"/>
              <a:t>Note strong seed dependence</a:t>
            </a:r>
          </a:p>
          <a:p>
            <a:r>
              <a:rPr lang="en-US" dirty="0"/>
              <a:t>Note fluctuations</a:t>
            </a:r>
          </a:p>
          <a:p>
            <a:r>
              <a:rPr lang="en-US" sz="1800" dirty="0"/>
              <a:t>Note instability of the trajectories</a:t>
            </a:r>
          </a:p>
        </p:txBody>
      </p:sp>
    </p:spTree>
    <p:extLst>
      <p:ext uri="{BB962C8B-B14F-4D97-AF65-F5344CB8AC3E}">
        <p14:creationId xmlns:p14="http://schemas.microsoft.com/office/powerpoint/2010/main" val="3513312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7B97C-17C1-8AF5-9CBB-46122285B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 mean baseline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510EFB-10D5-C3F2-341C-2AA44EB4F1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25" y="1806996"/>
            <a:ext cx="3663539" cy="2849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D1E2C0-9B93-2E9E-4D8E-ED65A351F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5992" y="1806996"/>
            <a:ext cx="3663540" cy="2849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E3EEC6-1EC1-8ABB-2EA5-FA137EF664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560" y="1806996"/>
            <a:ext cx="3663540" cy="28494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D03AFE-8D9D-49A7-DCED-9C600E2907AD}"/>
              </a:ext>
            </a:extLst>
          </p:cNvPr>
          <p:cNvSpPr txBox="1"/>
          <p:nvPr/>
        </p:nvSpPr>
        <p:spPr>
          <a:xfrm>
            <a:off x="645042" y="479797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Here </a:t>
            </a:r>
            <a:r>
              <a:rPr lang="en-US" sz="1800" dirty="0" err="1"/>
              <a:t>N_batch</a:t>
            </a:r>
            <a:r>
              <a:rPr lang="en-US" sz="1800" dirty="0"/>
              <a:t> = 10, </a:t>
            </a:r>
            <a:r>
              <a:rPr lang="en-US" sz="1800" dirty="0" err="1"/>
              <a:t>lr</a:t>
            </a:r>
            <a:r>
              <a:rPr lang="en-US" sz="1800" dirty="0"/>
              <a:t> = 1e-2</a:t>
            </a:r>
          </a:p>
          <a:p>
            <a:endParaRPr lang="en-US" dirty="0"/>
          </a:p>
          <a:p>
            <a:r>
              <a:rPr lang="en-US" sz="1800" dirty="0"/>
              <a:t>Note significantly reduced noise</a:t>
            </a:r>
          </a:p>
          <a:p>
            <a:r>
              <a:rPr lang="en-US" dirty="0"/>
              <a:t>Node reduced seed dependence</a:t>
            </a:r>
          </a:p>
          <a:p>
            <a:r>
              <a:rPr lang="en-US" sz="1800" dirty="0"/>
              <a:t>Note reduced gradients</a:t>
            </a:r>
          </a:p>
        </p:txBody>
      </p:sp>
    </p:spTree>
    <p:extLst>
      <p:ext uri="{BB962C8B-B14F-4D97-AF65-F5344CB8AC3E}">
        <p14:creationId xmlns:p14="http://schemas.microsoft.com/office/powerpoint/2010/main" val="3241807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4AB0-5EA2-8BCF-B585-58F368610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Subtract and normalize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489AB4-D997-40EE-42D6-4CA32E9EE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430" y="1998512"/>
            <a:ext cx="3926169" cy="3053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C79578-A589-D352-FF9B-E09BA7383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2915" y="1998512"/>
            <a:ext cx="3926169" cy="3053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DAD0CE-6A7B-C355-734E-D90E8FB0B5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400" y="1998512"/>
            <a:ext cx="3926169" cy="30536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19823F-A4ED-21B8-1001-570EC0249F3E}"/>
              </a:ext>
            </a:extLst>
          </p:cNvPr>
          <p:cNvSpPr txBox="1"/>
          <p:nvPr/>
        </p:nvSpPr>
        <p:spPr>
          <a:xfrm>
            <a:off x="372480" y="5246386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Here </a:t>
            </a:r>
            <a:r>
              <a:rPr lang="en-US" sz="1800" dirty="0" err="1"/>
              <a:t>N_batch</a:t>
            </a:r>
            <a:r>
              <a:rPr lang="en-US" sz="1800" dirty="0"/>
              <a:t> = 10, </a:t>
            </a:r>
            <a:r>
              <a:rPr lang="en-US" sz="1800" dirty="0" err="1"/>
              <a:t>lr</a:t>
            </a:r>
            <a:r>
              <a:rPr lang="en-US" sz="1800" dirty="0"/>
              <a:t> = 1e-2</a:t>
            </a:r>
          </a:p>
          <a:p>
            <a:endParaRPr lang="en-US" dirty="0"/>
          </a:p>
          <a:p>
            <a:r>
              <a:rPr lang="en-US" sz="1800" dirty="0"/>
              <a:t>Note further reduction and stability of gradients</a:t>
            </a:r>
          </a:p>
        </p:txBody>
      </p:sp>
    </p:spTree>
    <p:extLst>
      <p:ext uri="{BB962C8B-B14F-4D97-AF65-F5344CB8AC3E}">
        <p14:creationId xmlns:p14="http://schemas.microsoft.com/office/powerpoint/2010/main" val="2982847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68D0C-86B5-D922-E161-F78A907BF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learning state-dependent baseline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0E1C31-510E-C626-A328-7756F85F2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0" y="2058950"/>
            <a:ext cx="3186031" cy="35633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194D57-E5D2-6657-83BF-31BD4FB9E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953" y="2058950"/>
            <a:ext cx="3186031" cy="35842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B1BBBB-EDB4-9976-84D4-BFD26C0CAFF7}"/>
              </a:ext>
            </a:extLst>
          </p:cNvPr>
          <p:cNvSpPr txBox="1"/>
          <p:nvPr/>
        </p:nvSpPr>
        <p:spPr>
          <a:xfrm>
            <a:off x="1025885" y="1753730"/>
            <a:ext cx="1440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nV_steps</a:t>
            </a:r>
            <a:r>
              <a:rPr lang="en-US" dirty="0"/>
              <a:t> =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01B701-43C2-55DA-1DCF-CF2A12D731CB}"/>
              </a:ext>
            </a:extLst>
          </p:cNvPr>
          <p:cNvSpPr txBox="1"/>
          <p:nvPr/>
        </p:nvSpPr>
        <p:spPr>
          <a:xfrm>
            <a:off x="4704706" y="1721098"/>
            <a:ext cx="1563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nV_steps</a:t>
            </a:r>
            <a:r>
              <a:rPr lang="en-US" dirty="0"/>
              <a:t> =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748282-4AA4-5E80-B1E2-A2B9F228F02B}"/>
              </a:ext>
            </a:extLst>
          </p:cNvPr>
          <p:cNvSpPr txBox="1"/>
          <p:nvPr/>
        </p:nvSpPr>
        <p:spPr>
          <a:xfrm>
            <a:off x="3162242" y="5742899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lr</a:t>
            </a:r>
            <a:r>
              <a:rPr lang="en-US" dirty="0"/>
              <a:t> = 1e-2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AA967C-6E59-FD7B-FF68-59721FFB421A}"/>
                  </a:ext>
                </a:extLst>
              </p:cNvPr>
              <p:cNvSpPr txBox="1"/>
              <p:nvPr/>
            </p:nvSpPr>
            <p:spPr>
              <a:xfrm>
                <a:off x="7189277" y="2332585"/>
                <a:ext cx="4500699" cy="3310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baseline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also a NN, which is learned to approximate the return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(it starts from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endParaRPr lang="en-US" sz="1800" dirty="0"/>
              </a:p>
              <a:p>
                <a:r>
                  <a:rPr lang="en-US" dirty="0" err="1"/>
                  <a:t>nV_steps</a:t>
                </a:r>
                <a:r>
                  <a:rPr lang="en-US" dirty="0"/>
                  <a:t> is the number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1800" dirty="0"/>
                  <a:t> updates in between the policy updates</a:t>
                </a:r>
              </a:p>
              <a:p>
                <a:endParaRPr lang="en-US" dirty="0"/>
              </a:p>
              <a:p>
                <a:r>
                  <a:rPr lang="en-US" sz="1800" dirty="0"/>
                  <a:t>Learned policy only makes sense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EV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&gt;0:</m:t>
                    </m:r>
                  </m:oMath>
                </a14:m>
                <a:endParaRPr lang="en-US" sz="1800" b="0" dirty="0"/>
              </a:p>
              <a:p>
                <a:pPr algn="ctr"/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EV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=1 −</m:t>
                    </m:r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𝑣𝑎𝑙𝑢𝑒𝑠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()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𝑣𝑎𝑟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()</m:t>
                        </m:r>
                      </m:den>
                    </m:f>
                  </m:oMath>
                </a14:m>
                <a:endParaRPr lang="en-US" sz="18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EV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r>
                  <a:rPr lang="en-US" sz="1800" dirty="0"/>
                  <a:t> implies that the baseline perfectly learned the return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AA967C-6E59-FD7B-FF68-59721FFB4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9277" y="2332585"/>
                <a:ext cx="4500699" cy="3310650"/>
              </a:xfrm>
              <a:prstGeom prst="rect">
                <a:avLst/>
              </a:prstGeom>
              <a:blipFill>
                <a:blip r:embed="rId4"/>
                <a:stretch>
                  <a:fillRect l="-843" t="-763" b="-1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4458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F0E83-102B-225B-5F3C-493DDA7E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18647-9043-B2FD-79F8-F9C592200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learning state-dependent baseline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D8B691-680D-3866-EA1E-931169F0186F}"/>
              </a:ext>
            </a:extLst>
          </p:cNvPr>
          <p:cNvSpPr txBox="1"/>
          <p:nvPr/>
        </p:nvSpPr>
        <p:spPr>
          <a:xfrm>
            <a:off x="1019908" y="1538654"/>
            <a:ext cx="1440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nV_steps</a:t>
            </a:r>
            <a:r>
              <a:rPr lang="en-US" dirty="0"/>
              <a:t> =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73B125-5133-A060-F1AA-997DCB4164B4}"/>
              </a:ext>
            </a:extLst>
          </p:cNvPr>
          <p:cNvSpPr txBox="1"/>
          <p:nvPr/>
        </p:nvSpPr>
        <p:spPr>
          <a:xfrm>
            <a:off x="4698729" y="1506022"/>
            <a:ext cx="1563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nV_steps</a:t>
            </a:r>
            <a:r>
              <a:rPr lang="en-US" dirty="0"/>
              <a:t> = 20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03282E-6F76-BD65-0154-5AAD85846CDB}"/>
              </a:ext>
            </a:extLst>
          </p:cNvPr>
          <p:cNvSpPr txBox="1"/>
          <p:nvPr/>
        </p:nvSpPr>
        <p:spPr>
          <a:xfrm>
            <a:off x="7584829" y="3059668"/>
            <a:ext cx="104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Lr = 1e-3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236BDE-ED55-EF4F-3461-B7D1D003F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5" y="1993779"/>
            <a:ext cx="3243630" cy="3609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E911B8-7479-1643-7313-4E9BA75AF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710" y="1993779"/>
            <a:ext cx="3245669" cy="3609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CF716-5F4E-24A1-7BE1-D943240EC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Fixed-horizon rollout and bootstrapping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03E285-AADF-18B8-A829-B5EBEE216C08}"/>
              </a:ext>
            </a:extLst>
          </p:cNvPr>
          <p:cNvSpPr txBox="1"/>
          <p:nvPr/>
        </p:nvSpPr>
        <p:spPr>
          <a:xfrm>
            <a:off x="228469" y="5821009"/>
            <a:ext cx="1060814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New elements is that now the unit of data is no longer an episode. Now, the unit of the data is a </a:t>
            </a:r>
            <a:r>
              <a:rPr lang="en-US" b="1" dirty="0"/>
              <a:t>step.</a:t>
            </a:r>
            <a:endParaRPr lang="en-US" sz="1800" b="1" dirty="0"/>
          </a:p>
          <a:p>
            <a:r>
              <a:rPr lang="en-US" sz="1800" dirty="0"/>
              <a:t>Main reason for this: in the previous case, as the policy becomes more skilled it sees longer episodes = gets more experience. Now we fix this by having a fixed number of steps.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E60E8-2A33-4A87-A3EB-330B6BAD5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096" y="1909898"/>
            <a:ext cx="2168376" cy="24535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3E1729-200A-2A09-E630-D78A3FAE3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909898"/>
            <a:ext cx="2171097" cy="2453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76B328-70CD-0D3C-686C-69987AE8E5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1949" y="1223761"/>
            <a:ext cx="3606626" cy="40495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A75B80-A502-F9F0-B2DD-D24A51954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0752" y="1223761"/>
            <a:ext cx="3606626" cy="40632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534B18-C4B9-E73A-9309-1A7AD7D007FB}"/>
              </a:ext>
            </a:extLst>
          </p:cNvPr>
          <p:cNvSpPr txBox="1"/>
          <p:nvPr/>
        </p:nvSpPr>
        <p:spPr>
          <a:xfrm>
            <a:off x="0" y="4352962"/>
            <a:ext cx="45979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Negative EV here just means the conditioning for it is not well defined (</a:t>
            </a:r>
            <a:r>
              <a:rPr lang="en-US" dirty="0" err="1"/>
              <a:t>G.var</a:t>
            </a:r>
            <a:r>
              <a:rPr lang="en-US" dirty="0"/>
              <a:t>() becomes zero), it does not mean critic is poor.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664913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5553C-E2EC-D1C8-8E36-ADE04B651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Generalized Advantage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E990CC-B4C0-38BA-D1DC-5BC20634AF9C}"/>
                  </a:ext>
                </a:extLst>
              </p:cNvPr>
              <p:cNvSpPr txBox="1"/>
              <p:nvPr/>
            </p:nvSpPr>
            <p:spPr>
              <a:xfrm>
                <a:off x="838200" y="2677194"/>
                <a:ext cx="5578127" cy="21017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GAE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𝛾𝜆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– this correspond to one-step TD, small variance, large bias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– this is the above MC simulation, large variance, no bias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E990CC-B4C0-38BA-D1DC-5BC20634A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677194"/>
                <a:ext cx="5578127" cy="2101794"/>
              </a:xfrm>
              <a:prstGeom prst="rect">
                <a:avLst/>
              </a:prstGeom>
              <a:blipFill>
                <a:blip r:embed="rId2"/>
                <a:stretch>
                  <a:fillRect l="-909" t="-16766" b="-3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CB854CB-79A2-F07B-FF04-40ECC69E0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906" y="1434360"/>
            <a:ext cx="4663433" cy="520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51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3128C-B189-7FCC-34BD-054EF9CE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Steps 5: PPO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F0D3F4-533C-5729-BBA8-5CF4B891E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038" y="1420645"/>
            <a:ext cx="4850130" cy="52910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2A0E26-8C7B-C06F-853B-22479EEFE30D}"/>
              </a:ext>
            </a:extLst>
          </p:cNvPr>
          <p:cNvSpPr txBox="1"/>
          <p:nvPr/>
        </p:nvSpPr>
        <p:spPr>
          <a:xfrm>
            <a:off x="6491953" y="2209126"/>
            <a:ext cx="5578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PPO, the policy is not allowed to change much: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365269-B4F4-8ACE-A74E-90C294524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720" y="2578458"/>
            <a:ext cx="4096512" cy="895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0CCB1E-E46C-91BC-0878-FF5142A7988B}"/>
              </a:ext>
            </a:extLst>
          </p:cNvPr>
          <p:cNvSpPr txBox="1"/>
          <p:nvPr/>
        </p:nvSpPr>
        <p:spPr>
          <a:xfrm>
            <a:off x="6613873" y="4228989"/>
            <a:ext cx="55781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Things to note:</a:t>
            </a:r>
          </a:p>
          <a:p>
            <a:pPr marL="285750" indent="-285750">
              <a:buFontTx/>
              <a:buChar char="-"/>
            </a:pPr>
            <a:r>
              <a:rPr lang="en-US" dirty="0"/>
              <a:t>How stable is learning, seed independent</a:t>
            </a:r>
          </a:p>
          <a:p>
            <a:pPr marL="285750" indent="-285750">
              <a:buFontTx/>
              <a:buChar char="-"/>
            </a:pPr>
            <a:r>
              <a:rPr lang="en-US" dirty="0"/>
              <a:t>KL is below 0.02, meaning new policy is close the policy it started from</a:t>
            </a:r>
          </a:p>
          <a:p>
            <a:pPr marL="285750" indent="-285750">
              <a:buFontTx/>
              <a:buChar char="-"/>
            </a:pPr>
            <a:r>
              <a:rPr lang="en-US" dirty="0"/>
              <a:t>Also need ~30-40K steps for PPO convergence, compare this to ~200K of the previous GAE step</a:t>
            </a:r>
          </a:p>
        </p:txBody>
      </p:sp>
    </p:spTree>
    <p:extLst>
      <p:ext uri="{BB962C8B-B14F-4D97-AF65-F5344CB8AC3E}">
        <p14:creationId xmlns:p14="http://schemas.microsoft.com/office/powerpoint/2010/main" val="1591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3690</TotalTime>
  <Words>646</Words>
  <Application>Microsoft Macintosh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RL: REINFORCE and PPO</vt:lpstr>
      <vt:lpstr>CartPole with REINFORCE</vt:lpstr>
      <vt:lpstr>CartPole with REINFORCE, lr=1e-2</vt:lpstr>
      <vt:lpstr>CartPole with REINFORCE, lr=1e-3</vt:lpstr>
      <vt:lpstr>Five steps toward PPO</vt:lpstr>
      <vt:lpstr>Step 1: batch-normalized returns</vt:lpstr>
      <vt:lpstr>Seed-to-seed variation</vt:lpstr>
      <vt:lpstr>Subtract mean baseline</vt:lpstr>
      <vt:lpstr>Subtract and normalize</vt:lpstr>
      <vt:lpstr>Step 2: learning state-dependent baseline</vt:lpstr>
      <vt:lpstr>Step 2: learning state-dependent baseline</vt:lpstr>
      <vt:lpstr>Step 3: Fixed-horizon rollout and bootstrapping</vt:lpstr>
      <vt:lpstr>Step 4: Generalized Advantage Estimation</vt:lpstr>
      <vt:lpstr>Steps 5: PPO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Dolgirev, Pavel</dc:creator>
  <cp:lastModifiedBy>Dolgirev, Pavel</cp:lastModifiedBy>
  <cp:revision>76</cp:revision>
  <dcterms:created xsi:type="dcterms:W3CDTF">2026-08-27T00:14:55Z</dcterms:created>
  <dcterms:modified xsi:type="dcterms:W3CDTF">2026-09-09T01:51:00Z</dcterms:modified>
</cp:coreProperties>
</file>